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Predicción de Grasa Corporal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A0C4FF"/>
                </a:solidFill>
              </a:rPr>
              <a:t>con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CCDDFF"/>
                </a:solidFill>
              </a:rPr>
              <a:t>Metodología CRISP-DM  |  Random Forest  vs  XGBoost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3383280"/>
            <a:ext cx="3959352" cy="4572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4864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Tayron Cuéllar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4360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DFF"/>
                </a:solidFill>
              </a:rPr>
              <a:t>Ciencia de Datos · 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¿Cuál es el problema a resolver?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C4FF"/>
                </a:solidFill>
              </a:rPr>
              <a:t>Fase 1 · Business Understanding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30352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6FEB"/>
                </a:solidFill>
              </a:rPr>
              <a:t>EL PROBLEMA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5448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Medir la grasa corporal con precisión requiere equipos costosos:
  • DEXA scan: $150–$300 USD por medición
  • Hidrodensitometría: inmersión en agua
  • BodPod: cámara de desplazamiento de aire
No están al alcance de gimnasios ni consultorios comunes.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188720"/>
            <a:ext cx="530352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234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</a:rPr>
              <a:t>LA SOLUCIÓN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55448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Construir un modelo de ML que prediga el % de grasa
corporal usando solo medidas simples:
  ✓  Peso y altura
  ✓  Fuerza de agarre
  ✓  Sit-ups, salto de longitud
  ✓  Presión arterial
Cualquier médico o entrenador las puede tomar.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21945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F6FEB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977639"/>
            <a:ext cx="11155680" cy="77724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069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A4A"/>
                </a:solidFill>
              </a:rPr>
              <a:t>CRITERIOS DE ÉXITO  →  R² ≥ 0.65  |  RMSE ≤ 4.5 %    |  RESULTADO OBTENIDO: R² ≈ 0.73, RMSE ≈ 3.6 %  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El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C4FF"/>
                </a:solidFill>
              </a:rPr>
              <a:t>Fase 2 · Data Understanding  —  13 393 personas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2926080" cy="3474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59" y="1179576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Columna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1143000"/>
            <a:ext cx="4754880" cy="3474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79" y="1179576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Descripción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83879" y="1143000"/>
            <a:ext cx="1463040" cy="3474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179576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Unidad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490472"/>
            <a:ext cx="29260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4" y="1536192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37560" y="1490472"/>
            <a:ext cx="47548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92424" y="1536192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Edad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79" y="1490472"/>
            <a:ext cx="1463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38744" y="153619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años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1837943"/>
            <a:ext cx="2926080" cy="347472"/>
          </a:xfrm>
          <a:prstGeom prst="rect">
            <a:avLst/>
          </a:prstGeom>
          <a:solidFill>
            <a:srgbClr val="D6E8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4904" y="1883663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gender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37560" y="1837943"/>
            <a:ext cx="4754880" cy="347472"/>
          </a:xfrm>
          <a:prstGeom prst="rect">
            <a:avLst/>
          </a:prstGeom>
          <a:solidFill>
            <a:srgbClr val="D6E8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92424" y="1883663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Sexo (M / F)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83879" y="1837943"/>
            <a:ext cx="1463040" cy="347472"/>
          </a:xfrm>
          <a:prstGeom prst="rect">
            <a:avLst/>
          </a:prstGeom>
          <a:solidFill>
            <a:srgbClr val="D6E8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38744" y="1883663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185416"/>
            <a:ext cx="29260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4904" y="2231136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height_cm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37560" y="2185416"/>
            <a:ext cx="47548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92424" y="2231136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Altura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83879" y="2185416"/>
            <a:ext cx="1463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38744" y="2231136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cm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2532888"/>
            <a:ext cx="2926080" cy="347472"/>
          </a:xfrm>
          <a:prstGeom prst="rect">
            <a:avLst/>
          </a:prstGeom>
          <a:solidFill>
            <a:srgbClr val="D6E8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4904" y="2578608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weight_kg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37560" y="2532888"/>
            <a:ext cx="4754880" cy="347472"/>
          </a:xfrm>
          <a:prstGeom prst="rect">
            <a:avLst/>
          </a:prstGeom>
          <a:solidFill>
            <a:srgbClr val="D6E8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92424" y="2578608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Peso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83879" y="2532888"/>
            <a:ext cx="1463040" cy="347472"/>
          </a:xfrm>
          <a:prstGeom prst="rect">
            <a:avLst/>
          </a:prstGeom>
          <a:solidFill>
            <a:srgbClr val="D6E8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38744" y="257860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kg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2880360"/>
            <a:ext cx="2926080" cy="347472"/>
          </a:xfrm>
          <a:prstGeom prst="rect">
            <a:avLst/>
          </a:prstGeom>
          <a:solidFill>
            <a:srgbClr val="FFF7D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4904" y="2926079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A4A"/>
                </a:solidFill>
              </a:rPr>
              <a:t>body fat_%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37560" y="2880360"/>
            <a:ext cx="4754880" cy="347472"/>
          </a:xfrm>
          <a:prstGeom prst="rect">
            <a:avLst/>
          </a:prstGeom>
          <a:solidFill>
            <a:srgbClr val="FFF7D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92424" y="2926079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A4A"/>
                </a:solidFill>
              </a:rPr>
              <a:t>GRASA CORPORAL  ← TARGET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83879" y="2880360"/>
            <a:ext cx="1463040" cy="347472"/>
          </a:xfrm>
          <a:prstGeom prst="rect">
            <a:avLst/>
          </a:prstGeom>
          <a:solidFill>
            <a:srgbClr val="FFF7D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38744" y="2926079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A4A"/>
                </a:solidFill>
              </a:rPr>
              <a:t>  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3227832"/>
            <a:ext cx="2926080" cy="347472"/>
          </a:xfrm>
          <a:prstGeom prst="rect">
            <a:avLst/>
          </a:prstGeom>
          <a:solidFill>
            <a:srgbClr val="D6E8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4904" y="3273552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diastolic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37560" y="3227832"/>
            <a:ext cx="4754880" cy="347472"/>
          </a:xfrm>
          <a:prstGeom prst="rect">
            <a:avLst/>
          </a:prstGeom>
          <a:solidFill>
            <a:srgbClr val="D6E8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92424" y="3273552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Presión diastólica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183879" y="3227832"/>
            <a:ext cx="1463040" cy="347472"/>
          </a:xfrm>
          <a:prstGeom prst="rect">
            <a:avLst/>
          </a:prstGeom>
          <a:solidFill>
            <a:srgbClr val="D6E8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38744" y="327355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mmHg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3575304"/>
            <a:ext cx="29260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74904" y="3621024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systolic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337560" y="3575304"/>
            <a:ext cx="47548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92424" y="3621024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Presión sistólica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183879" y="3575304"/>
            <a:ext cx="1463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38744" y="3621024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mmHg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" y="3922776"/>
            <a:ext cx="2926080" cy="347472"/>
          </a:xfrm>
          <a:prstGeom prst="rect">
            <a:avLst/>
          </a:prstGeom>
          <a:solidFill>
            <a:srgbClr val="D6E8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74904" y="3968496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gripForce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337560" y="3922776"/>
            <a:ext cx="4754880" cy="347472"/>
          </a:xfrm>
          <a:prstGeom prst="rect">
            <a:avLst/>
          </a:prstGeom>
          <a:solidFill>
            <a:srgbClr val="D6E8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392424" y="3968496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Fuerza de agarre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183879" y="3922776"/>
            <a:ext cx="1463040" cy="347472"/>
          </a:xfrm>
          <a:prstGeom prst="rect">
            <a:avLst/>
          </a:prstGeom>
          <a:solidFill>
            <a:srgbClr val="D6E8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238744" y="3968496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kg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0040" y="4270248"/>
            <a:ext cx="29260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74904" y="4315968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sit and bend forward_cm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337560" y="4270248"/>
            <a:ext cx="47548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392424" y="4315968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Test de flexibilidad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183879" y="4270248"/>
            <a:ext cx="1463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238744" y="431596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cm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0040" y="4617720"/>
            <a:ext cx="2926080" cy="347472"/>
          </a:xfrm>
          <a:prstGeom prst="rect">
            <a:avLst/>
          </a:prstGeom>
          <a:solidFill>
            <a:srgbClr val="D6E8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74904" y="4663440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sit-ups counts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337560" y="4617720"/>
            <a:ext cx="4754880" cy="347472"/>
          </a:xfrm>
          <a:prstGeom prst="rect">
            <a:avLst/>
          </a:prstGeom>
          <a:solidFill>
            <a:srgbClr val="D6E8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392424" y="4663440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Abdominales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183879" y="4617720"/>
            <a:ext cx="1463040" cy="347472"/>
          </a:xfrm>
          <a:prstGeom prst="rect">
            <a:avLst/>
          </a:prstGeom>
          <a:solidFill>
            <a:srgbClr val="D6E8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238744" y="466344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reps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20040" y="4965192"/>
            <a:ext cx="29260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74904" y="5010912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broad jump_cm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337560" y="4965192"/>
            <a:ext cx="47548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392424" y="5010912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Salto de longitud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183879" y="4965192"/>
            <a:ext cx="1463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238744" y="501091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cm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20040" y="5312664"/>
            <a:ext cx="2926080" cy="347472"/>
          </a:xfrm>
          <a:prstGeom prst="rect">
            <a:avLst/>
          </a:prstGeom>
          <a:solidFill>
            <a:srgbClr val="D6E8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74904" y="5358384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class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337560" y="5312664"/>
            <a:ext cx="4754880" cy="347472"/>
          </a:xfrm>
          <a:prstGeom prst="rect">
            <a:avLst/>
          </a:prstGeom>
          <a:solidFill>
            <a:srgbClr val="D6E8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392424" y="5358384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Clase de rendimiento A–D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183879" y="5312664"/>
            <a:ext cx="1463040" cy="347472"/>
          </a:xfrm>
          <a:prstGeom prst="rect">
            <a:avLst/>
          </a:prstGeom>
          <a:solidFill>
            <a:srgbClr val="D6E8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238744" y="5358384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—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20040" y="55321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A580C"/>
                </a:solidFill>
              </a:rPr>
              <a:t>★ Variable objetivo — valor continuo entre ~3 % y 50 % → problema de REGRESIÓN (no clasificación)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Metodología CRISP-DM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C4FF"/>
                </a:solidFill>
              </a:rPr>
              <a:t>6 fases estándar en proyectos de Ciencia de Datos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1691640" cy="19202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61872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19072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Business
Understanding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" y="2267712"/>
            <a:ext cx="1545336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322576"/>
            <a:ext cx="1600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Definir el problema
y métricas de éxito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1874519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2A4A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40280" y="1188720"/>
            <a:ext cx="1691640" cy="1920240"/>
          </a:xfrm>
          <a:prstGeom prst="rect">
            <a:avLst/>
          </a:prstGeom>
          <a:solidFill>
            <a:srgbClr val="069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40280" y="1261872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1719072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Data
Understanding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13432" y="2267712"/>
            <a:ext cx="1545336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86000" y="2322576"/>
            <a:ext cx="1600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Explorar y visualizar
los datos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1874519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2A4A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0" y="1188720"/>
            <a:ext cx="1691640" cy="1920240"/>
          </a:xfrm>
          <a:prstGeom prst="rect">
            <a:avLst/>
          </a:prstGeom>
          <a:solidFill>
            <a:srgbClr val="791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0" y="1261872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1719072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Data
Preparation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87952" y="2267712"/>
            <a:ext cx="1545336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60520" y="2322576"/>
            <a:ext cx="1600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Limpiar, transformar
y seleccionar features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06440" y="1874519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2A4A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89320" y="1188720"/>
            <a:ext cx="1691640" cy="19202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89320" y="1261872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89320" y="1719072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Modeling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62472" y="2267712"/>
            <a:ext cx="1545336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35040" y="2322576"/>
            <a:ext cx="1600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Entrenar RF
y XGBoost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1874519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2A4A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63840" y="1188720"/>
            <a:ext cx="1691640" cy="19202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0" y="1261872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1719072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Evaluation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36992" y="2267712"/>
            <a:ext cx="1545336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09560" y="2322576"/>
            <a:ext cx="1600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Medir R², RMSE,
MAE en datos test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55480" y="1874519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2A4A"/>
                </a:solidFill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738360" y="1188720"/>
            <a:ext cx="1691640" cy="1920240"/>
          </a:xfrm>
          <a:prstGeom prst="rect">
            <a:avLst/>
          </a:prstGeom>
          <a:solidFill>
            <a:srgbClr val="0E7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38360" y="1261872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38360" y="1719072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Deployment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811512" y="2267712"/>
            <a:ext cx="1545336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84080" y="2322576"/>
            <a:ext cx="1600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Serializar modelo
+ predictor interactivo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333756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555555"/>
                </a:solidFill>
              </a:rPr>
              <a:t>CRISP-DM es iterativo — si los resultados de la Evaluación no son buenos, se vuelve a Preparación o Modelado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Fase 2 · Data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C4FF"/>
                </a:solidFill>
              </a:rPr>
              <a:t>Explorar los datos antes de modelar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539496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8872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6FEB"/>
                </a:solidFill>
              </a:rPr>
              <a:t>2.5 · Histogramas — ¿Cómo se distribuye cada variable?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572768"/>
            <a:ext cx="5120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333333"/>
                </a:solidFill>
              </a:rPr>
              <a:t>▸ Muestra cuántas personas tienen cada rango de valor</a:t>
            </a:r>
          </a:p>
          <a:p>
            <a:pPr algn="l"/>
            <a:r>
              <a:rPr sz="1200">
                <a:solidFill>
                  <a:srgbClr val="333333"/>
                </a:solidFill>
              </a:rPr>
              <a:t>▸ Detecta si la distribución es normal, sesgada o bimodal</a:t>
            </a:r>
          </a:p>
          <a:p>
            <a:pPr algn="l"/>
            <a:r>
              <a:rPr sz="1200">
                <a:solidFill>
                  <a:srgbClr val="333333"/>
                </a:solidFill>
              </a:rPr>
              <a:t>▸ Ejemplo: body fat_% va de ~3% a 50%, con pico en ~20%</a:t>
            </a:r>
          </a:p>
          <a:p>
            <a:pPr algn="l"/>
            <a:r>
              <a:rPr sz="1200">
                <a:solidFill>
                  <a:srgbClr val="333333"/>
                </a:solidFill>
              </a:rPr>
              <a:t>▸ Ayuda a decidir si se necesita transformar la variable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143000"/>
            <a:ext cx="562356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18872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6FEB"/>
                </a:solidFill>
              </a:rPr>
              <a:t>2.6 · Boxplots por Género — ¿Hombres vs Mujeres difieren?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0" y="1801368"/>
            <a:ext cx="548640" cy="731520"/>
          </a:xfrm>
          <a:prstGeom prst="rect">
            <a:avLst/>
          </a:prstGeom>
          <a:solidFill>
            <a:srgbClr val="93C5FD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269480" y="1572768"/>
            <a:ext cx="9144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269480" y="2532888"/>
            <a:ext cx="9144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287768" y="2103120"/>
            <a:ext cx="54864" cy="36576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26679" y="152704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bigote superior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79" y="175564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percentil 75 (Q3)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2048256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mediana (Q2)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2322576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percentil 25 (Q1)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2551176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bigote inferior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79" y="2834639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A580C"/>
                </a:solidFill>
              </a:rPr>
              <a:t>punto = outlier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06056" y="2871215"/>
            <a:ext cx="36576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2788920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33333"/>
                </a:solidFill>
              </a:rPr>
              <a:t>▸ Las mujeres tienen mayor grasa corporal de forma natural → género es predictor importante</a:t>
            </a:r>
          </a:p>
          <a:p>
            <a:pPr algn="l"/>
            <a:r>
              <a:rPr sz="1100">
                <a:solidFill>
                  <a:srgbClr val="333333"/>
                </a:solidFill>
              </a:rPr>
              <a:t>▸ Los hombres tienen mayor fuerza de agarre y salto</a:t>
            </a:r>
          </a:p>
          <a:p>
            <a:pPr algn="l"/>
            <a:r>
              <a:rPr sz="1100">
                <a:solidFill>
                  <a:srgbClr val="333333"/>
                </a:solidFill>
              </a:rPr>
              <a:t>▸ Justifica incluir 'gender' como feature del modelo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005072"/>
            <a:ext cx="115671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050791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6FEB"/>
                </a:solidFill>
              </a:rPr>
              <a:t>2.7 · Matriz de Correlación — ¿Qué variables se relacionan con la grasa corporal?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43484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▸  Correlación mide la relación lineal entre dos variables: va de -1 (inversa perfecta) a +1 (directa perfecta)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645152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▸  Variables con r alto con body fat_%: weight_kg (+), BMI (+), age (+)  →  más peso/edad = más grasa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855464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▸  Variables con r negativo: gripForce (-), broad jump_cm (-), sit-ups (-)  →  más rendimiento = menos grasa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065776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▸  Se usa un umbral |r| ≥ 0.20 para seleccionar las 7 features más informativas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Fase 3 · Data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C4FF"/>
                </a:solidFill>
              </a:rPr>
              <a:t>Limpiar y transformar los datos para el modelo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783080" cy="457200"/>
          </a:xfrm>
          <a:prstGeom prst="rect">
            <a:avLst/>
          </a:prstGeom>
          <a:solidFill>
            <a:srgbClr val="067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6916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3.1 · Eliminar duplicados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600200"/>
            <a:ext cx="1783080" cy="182880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673352"/>
            <a:ext cx="16459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Se encontró 1 fila duplicada
y se eliminó.
13 393 → 13 392 filas.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03703" y="1143000"/>
            <a:ext cx="1783080" cy="457200"/>
          </a:xfrm>
          <a:prstGeom prst="rect">
            <a:avLst/>
          </a:prstGeom>
          <a:solidFill>
            <a:srgbClr val="155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49423" y="1188720"/>
            <a:ext cx="16916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3.2 · Codificar género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03703" y="1600200"/>
            <a:ext cx="1783080" cy="182880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76856" y="1673352"/>
            <a:ext cx="16459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El modelo solo entiende números.
M → 1
F → 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33087" y="1143000"/>
            <a:ext cx="1783080" cy="457200"/>
          </a:xfrm>
          <a:prstGeom prst="rect">
            <a:avLst/>
          </a:prstGeom>
          <a:solidFill>
            <a:srgbClr val="7C1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78807" y="1188720"/>
            <a:ext cx="16916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3.3 · IQR Capping (outliers)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33087" y="1600200"/>
            <a:ext cx="1783080" cy="182880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40" y="1673352"/>
            <a:ext cx="16459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Valores extremos se recortan al límite
Q1 − 1.5×IQR y Q3 + 1.5×IQR.
Sin perder filas.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62472" y="1143000"/>
            <a:ext cx="1783080" cy="457200"/>
          </a:xfrm>
          <a:prstGeom prst="rect">
            <a:avLst/>
          </a:prstGeom>
          <a:solidFill>
            <a:srgbClr val="0E7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08192" y="1188720"/>
            <a:ext cx="16916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3.4 · VIF (multicolinealidad)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62472" y="1600200"/>
            <a:ext cx="1783080" cy="182880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35624" y="1673352"/>
            <a:ext cx="16459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Mide si dos variables 'dicen lo mismo'.
Informativo: RF y XGBoost
no lo necesitan.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91856" y="1143000"/>
            <a:ext cx="1783080" cy="4572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37576" y="1188720"/>
            <a:ext cx="16916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3.5 · Feature Engineering BMI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91856" y="1600200"/>
            <a:ext cx="1783080" cy="182880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65008" y="1673352"/>
            <a:ext cx="16459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Nueva variable creada:
BMI = peso / (altura/100)²
No estaba en el CSV original.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921240" y="1143000"/>
            <a:ext cx="1783080" cy="457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66960" y="1188720"/>
            <a:ext cx="16916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3.6 · Selección de features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921240" y="1600200"/>
            <a:ext cx="1783080" cy="182880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94392" y="1673352"/>
            <a:ext cx="16459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De 11 variables solo se usan 7:
las que tienen |r| ≥ 0.20
con body fat_%.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657600"/>
            <a:ext cx="11567160" cy="731520"/>
          </a:xfrm>
          <a:prstGeom prst="rect">
            <a:avLst/>
          </a:prstGeom>
          <a:solidFill>
            <a:srgbClr val="FFF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703320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A4A"/>
                </a:solidFill>
              </a:rPr>
              <a:t>¿Por qué crear BMI si ya tenemos peso y altura?
Porque BMI = peso/(altura²) captura la relación entre ambas de forma no lineal — aporta información adicional que el modelo aprovecha.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526280"/>
            <a:ext cx="11567160" cy="658368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6177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A4A"/>
                </a:solidFill>
              </a:rPr>
              <a:t>Orden de operaciones: duplicados → encoding → drop 'class' → crear BMI → IQR capping → selección por correlación → VIF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StandardScaler — Estandarización de variables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C4FF"/>
                </a:solidFill>
              </a:rPr>
              <a:t>Fase 3–4 · Dentro del Pipeline para evitar data leakage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521208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A580C"/>
                </a:solidFill>
              </a:rPr>
              <a:t>⚠  EL PROBLEMA SIN SCALER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72768"/>
            <a:ext cx="2377440" cy="246888"/>
          </a:xfrm>
          <a:prstGeom prst="rect">
            <a:avLst/>
          </a:prstGeom>
          <a:solidFill>
            <a:srgbClr val="D6E8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97480" y="1572768"/>
            <a:ext cx="2560320" cy="246888"/>
          </a:xfrm>
          <a:prstGeom prst="rect">
            <a:avLst/>
          </a:prstGeom>
          <a:solidFill>
            <a:srgbClr val="D6E8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160020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</a:rPr>
              <a:t>Variable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61488" y="160020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</a:rPr>
              <a:t>Rango típico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828800"/>
            <a:ext cx="2377440" cy="246888"/>
          </a:xfrm>
          <a:prstGeom prst="rect">
            <a:avLst/>
          </a:prstGeom>
          <a:solidFill>
            <a:srgbClr val="F1F5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97480" y="1828800"/>
            <a:ext cx="2560320" cy="246888"/>
          </a:xfrm>
          <a:prstGeom prst="rect">
            <a:avLst/>
          </a:prstGeom>
          <a:solidFill>
            <a:srgbClr val="F1F5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1856231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61488" y="1856231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20 – 60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084832"/>
            <a:ext cx="237744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97480" y="2084832"/>
            <a:ext cx="256032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2112264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weight_kg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61488" y="2112264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40 – 120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340864"/>
            <a:ext cx="2377440" cy="246888"/>
          </a:xfrm>
          <a:prstGeom prst="rect">
            <a:avLst/>
          </a:prstGeom>
          <a:solidFill>
            <a:srgbClr val="F1F5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97480" y="2340864"/>
            <a:ext cx="2560320" cy="246888"/>
          </a:xfrm>
          <a:prstGeom prst="rect">
            <a:avLst/>
          </a:prstGeom>
          <a:solidFill>
            <a:srgbClr val="F1F5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2368296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broad_jump_cm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61488" y="2368296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100 – 300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596896"/>
            <a:ext cx="237744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697480" y="2596896"/>
            <a:ext cx="256032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8" y="2624327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gripForce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61488" y="2624327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10 – 80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2798064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EA580C"/>
                </a:solidFill>
              </a:rPr>
              <a:t>El modelo podría pensar que broad_jump_cm
es más importante solo porque
sus números son más grandes.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77840" y="20116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F6FEB"/>
                </a:solidFill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40680" y="251460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F6FEB"/>
                </a:solidFill>
              </a:rPr>
              <a:t>StandardScaler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1143000"/>
            <a:ext cx="5623560" cy="100584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1188720"/>
            <a:ext cx="5623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ACC15"/>
                </a:solidFill>
              </a:rPr>
              <a:t>z  =  ( x − μ ) / 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1783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C4FF"/>
                </a:solidFill>
              </a:rPr>
              <a:t>x = valor original   |   μ = media   |   σ = desviación estándar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22402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6FEB"/>
                </a:solidFill>
              </a:rPr>
              <a:t>Ejemplo con gripForce  (μ = 40, σ = 10):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2587752"/>
            <a:ext cx="594360" cy="246888"/>
          </a:xfrm>
          <a:prstGeom prst="rect">
            <a:avLst/>
          </a:prstGeom>
          <a:solidFill>
            <a:srgbClr val="1F6FE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0216" y="2615184"/>
            <a:ext cx="5394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Persona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76288" y="2587752"/>
            <a:ext cx="868680" cy="246888"/>
          </a:xfrm>
          <a:prstGeom prst="rect">
            <a:avLst/>
          </a:prstGeom>
          <a:solidFill>
            <a:srgbClr val="1F6FE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12864" y="2615184"/>
            <a:ext cx="8138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Valor original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63256" y="2587752"/>
            <a:ext cx="868680" cy="246888"/>
          </a:xfrm>
          <a:prstGeom prst="rect">
            <a:avLst/>
          </a:prstGeom>
          <a:solidFill>
            <a:srgbClr val="1F6FE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99831" y="2615184"/>
            <a:ext cx="8138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Cálculo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650224" y="2587752"/>
            <a:ext cx="868680" cy="246888"/>
          </a:xfrm>
          <a:prstGeom prst="rect">
            <a:avLst/>
          </a:prstGeom>
          <a:solidFill>
            <a:srgbClr val="1F6FE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86800" y="2615184"/>
            <a:ext cx="8138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Valor escalado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537192" y="2587752"/>
            <a:ext cx="2103120" cy="246888"/>
          </a:xfrm>
          <a:prstGeom prst="rect">
            <a:avLst/>
          </a:prstGeom>
          <a:solidFill>
            <a:srgbClr val="1F6FE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73767" y="2615184"/>
            <a:ext cx="204825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Interpretación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63640" y="2843784"/>
            <a:ext cx="59436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00216" y="2871216"/>
            <a:ext cx="5394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876288" y="2843784"/>
            <a:ext cx="86868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12864" y="2871216"/>
            <a:ext cx="8138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40 kg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63256" y="2843784"/>
            <a:ext cx="86868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99831" y="2871216"/>
            <a:ext cx="8138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(40-40)/10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650224" y="2843784"/>
            <a:ext cx="86868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686800" y="2871216"/>
            <a:ext cx="8138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0.0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537192" y="2843784"/>
            <a:ext cx="210312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573767" y="2871216"/>
            <a:ext cx="204825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Exactamente promedio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63640" y="3099816"/>
            <a:ext cx="594360" cy="246888"/>
          </a:xfrm>
          <a:prstGeom prst="rect">
            <a:avLst/>
          </a:prstGeom>
          <a:solidFill>
            <a:srgbClr val="F1F5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00216" y="3127248"/>
            <a:ext cx="5394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B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876288" y="3099816"/>
            <a:ext cx="868680" cy="246888"/>
          </a:xfrm>
          <a:prstGeom prst="rect">
            <a:avLst/>
          </a:prstGeom>
          <a:solidFill>
            <a:srgbClr val="F1F5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912864" y="3127248"/>
            <a:ext cx="8138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50 kg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763256" y="3099816"/>
            <a:ext cx="868680" cy="246888"/>
          </a:xfrm>
          <a:prstGeom prst="rect">
            <a:avLst/>
          </a:prstGeom>
          <a:solidFill>
            <a:srgbClr val="F1F5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799831" y="3127248"/>
            <a:ext cx="8138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(50-40)/10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650224" y="3099816"/>
            <a:ext cx="868680" cy="246888"/>
          </a:xfrm>
          <a:prstGeom prst="rect">
            <a:avLst/>
          </a:prstGeom>
          <a:solidFill>
            <a:srgbClr val="F1F5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686800" y="3127248"/>
            <a:ext cx="8138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+1.0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537192" y="3099816"/>
            <a:ext cx="2103120" cy="246888"/>
          </a:xfrm>
          <a:prstGeom prst="rect">
            <a:avLst/>
          </a:prstGeom>
          <a:solidFill>
            <a:srgbClr val="F1F5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573767" y="3127248"/>
            <a:ext cx="204825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1 desv. por encima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263640" y="3355848"/>
            <a:ext cx="59436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00216" y="3383279"/>
            <a:ext cx="5394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C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876288" y="3355848"/>
            <a:ext cx="86868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912864" y="3383279"/>
            <a:ext cx="8138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30 kg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763256" y="3355848"/>
            <a:ext cx="86868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799831" y="3383279"/>
            <a:ext cx="8138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(30-40)/10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650224" y="3355848"/>
            <a:ext cx="86868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686800" y="3383279"/>
            <a:ext cx="8138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−1.0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537192" y="3355848"/>
            <a:ext cx="210312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573767" y="3383279"/>
            <a:ext cx="204825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1 desv. por debajo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263640" y="3611880"/>
            <a:ext cx="594360" cy="246888"/>
          </a:xfrm>
          <a:prstGeom prst="rect">
            <a:avLst/>
          </a:prstGeom>
          <a:solidFill>
            <a:srgbClr val="F1F5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300216" y="3639312"/>
            <a:ext cx="5394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D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876288" y="3611880"/>
            <a:ext cx="868680" cy="246888"/>
          </a:xfrm>
          <a:prstGeom prst="rect">
            <a:avLst/>
          </a:prstGeom>
          <a:solidFill>
            <a:srgbClr val="F1F5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912864" y="3639312"/>
            <a:ext cx="8138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65 kg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763256" y="3611880"/>
            <a:ext cx="868680" cy="246888"/>
          </a:xfrm>
          <a:prstGeom prst="rect">
            <a:avLst/>
          </a:prstGeom>
          <a:solidFill>
            <a:srgbClr val="F1F5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799831" y="3639312"/>
            <a:ext cx="8138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(65-40)/10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650224" y="3611880"/>
            <a:ext cx="868680" cy="246888"/>
          </a:xfrm>
          <a:prstGeom prst="rect">
            <a:avLst/>
          </a:prstGeom>
          <a:solidFill>
            <a:srgbClr val="F1F5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686800" y="3639312"/>
            <a:ext cx="8138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+2.5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537192" y="3611880"/>
            <a:ext cx="2103120" cy="246888"/>
          </a:xfrm>
          <a:prstGeom prst="rect">
            <a:avLst/>
          </a:prstGeom>
          <a:solidFill>
            <a:srgbClr val="F1F5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573767" y="3639312"/>
            <a:ext cx="204825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Valor alto, outlier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74320" y="4480560"/>
            <a:ext cx="11567160" cy="777240"/>
          </a:xfrm>
          <a:prstGeom prst="rect">
            <a:avLst/>
          </a:prstGeom>
          <a:solidFill>
            <a:srgbClr val="FFF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57200" y="449884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A4A"/>
                </a:solidFill>
              </a:rPr>
              <a:t>¿Por qué el Scaler va dentro del Pipeline?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57200" y="4828032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Para evitar DATA LEAKAGE: el scaler aprende μ y σ SOLO del conjunto de entrenamiento. Si calculara sobre todos los datos incluyendo el test, el modelo habría 'visto' el futuro → métricas infladas artificialmente.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Factor de Inflación de la Varianza (VIF)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C4FF"/>
                </a:solidFill>
              </a:rPr>
              <a:t>Fase 3.4 · Análisis de multicolinealidad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1567160" cy="658368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07008"/>
            <a:ext cx="11247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Multicolinealidad: cuando dos o más variables del modelo se pueden predecir una a partir de la otra — 'dicen lo mismo'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920240"/>
            <a:ext cx="5486400" cy="2331720"/>
          </a:xfrm>
          <a:prstGeom prst="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96596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6FEB"/>
                </a:solidFill>
              </a:rPr>
              <a:t>¿Cómo calcula el VIF?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31720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Para cada variable hace esto internamente:
1. La toma como variable objetivo (ej: BMI)
2. Usa todas las demás features para predecirla
3. Obtiene un R² de esa regresión
4. Calcula:  VIF = 1 / (1 − R²)
Si R² = 0.90  →  VIF = 10  (problemático)
Si R² = 0.00  →  VIF = 1   (independiente)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920240"/>
            <a:ext cx="5806440" cy="2331720"/>
          </a:xfrm>
          <a:prstGeom prst="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96596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6FEB"/>
                </a:solidFill>
              </a:rPr>
              <a:t>Escala de interpretación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2331720"/>
            <a:ext cx="1280160" cy="292608"/>
          </a:xfrm>
          <a:prstGeom prst="rect">
            <a:avLst/>
          </a:prstGeom>
          <a:solidFill>
            <a:srgbClr val="1F6FE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2368296"/>
            <a:ext cx="12070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06640" y="2331720"/>
            <a:ext cx="1280160" cy="292608"/>
          </a:xfrm>
          <a:prstGeom prst="rect">
            <a:avLst/>
          </a:prstGeom>
          <a:solidFill>
            <a:srgbClr val="1F6FE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52360" y="2368296"/>
            <a:ext cx="12070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VIF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32520" y="2331720"/>
            <a:ext cx="2286000" cy="292608"/>
          </a:xfrm>
          <a:prstGeom prst="rect">
            <a:avLst/>
          </a:prstGeom>
          <a:solidFill>
            <a:srgbClr val="1F6FE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0" y="2368296"/>
            <a:ext cx="22128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Nivel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2633472"/>
            <a:ext cx="12801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2670048"/>
            <a:ext cx="12070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0.00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06640" y="2633472"/>
            <a:ext cx="12801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52360" y="2670048"/>
            <a:ext cx="12070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1.0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32520" y="2633472"/>
            <a:ext cx="22860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0" y="2670048"/>
            <a:ext cx="22128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Sin colinel.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0760" y="2935224"/>
            <a:ext cx="1280160" cy="292608"/>
          </a:xfrm>
          <a:prstGeom prst="rect">
            <a:avLst/>
          </a:prstGeom>
          <a:solidFill>
            <a:srgbClr val="F1F5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2971800"/>
            <a:ext cx="12070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0.80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06640" y="2935224"/>
            <a:ext cx="1280160" cy="292608"/>
          </a:xfrm>
          <a:prstGeom prst="rect">
            <a:avLst/>
          </a:prstGeom>
          <a:solidFill>
            <a:srgbClr val="F1F5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52360" y="2971800"/>
            <a:ext cx="12070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5.0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32520" y="2935224"/>
            <a:ext cx="2286000" cy="292608"/>
          </a:xfrm>
          <a:prstGeom prst="rect">
            <a:avLst/>
          </a:prstGeom>
          <a:solidFill>
            <a:srgbClr val="F1F5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78240" y="2971800"/>
            <a:ext cx="22128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Baja — OK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80760" y="3236976"/>
            <a:ext cx="12801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0" y="3273552"/>
            <a:ext cx="12070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0.90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06640" y="3236976"/>
            <a:ext cx="12801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52360" y="3273552"/>
            <a:ext cx="12070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10.0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732520" y="3236976"/>
            <a:ext cx="22860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78240" y="3273552"/>
            <a:ext cx="22128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Moderada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80760" y="3538728"/>
            <a:ext cx="1280160" cy="292608"/>
          </a:xfrm>
          <a:prstGeom prst="rect">
            <a:avLst/>
          </a:prstGeom>
          <a:solidFill>
            <a:srgbClr val="F1F5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80" y="3575304"/>
            <a:ext cx="12070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0.95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06640" y="3538728"/>
            <a:ext cx="1280160" cy="292608"/>
          </a:xfrm>
          <a:prstGeom prst="rect">
            <a:avLst/>
          </a:prstGeom>
          <a:solidFill>
            <a:srgbClr val="F1F5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52360" y="3575304"/>
            <a:ext cx="12070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20.0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732520" y="3538728"/>
            <a:ext cx="2286000" cy="292608"/>
          </a:xfrm>
          <a:prstGeom prst="rect">
            <a:avLst/>
          </a:prstGeom>
          <a:solidFill>
            <a:srgbClr val="F1F5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78240" y="3575304"/>
            <a:ext cx="22128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Alta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80760" y="3840480"/>
            <a:ext cx="12801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26480" y="3877056"/>
            <a:ext cx="12070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0.99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06640" y="3840480"/>
            <a:ext cx="12801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52360" y="3877056"/>
            <a:ext cx="12070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100.0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732520" y="3840480"/>
            <a:ext cx="22860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778240" y="3877056"/>
            <a:ext cx="22128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Muy alta ⚠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4434840"/>
            <a:ext cx="11567160" cy="128016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44805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A4A"/>
                </a:solidFill>
              </a:rPr>
              <a:t>¿Por qué no eliminamos features aunque el VIF sea alto?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482803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VIF es un problema de la REGRESIÓN LINEAL, no de los modelos de árbol:
  ▸  Random Forest: en cada árbol solo ve un subconjunto aleatorio de features — si dos son redundantes, usa una u otra sin confundirse
  ▸  XGBoost: tiene regularización L1/L2 que penaliza la redundancia automáticamente
→  En el notebook el VIF se calcula solo con fines EDUCATIVOS, no para eliminar features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Fase 4 · Modelado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C4FF"/>
                </a:solidFill>
              </a:rPr>
              <a:t>Random Forest  vs  XGBoost — ambos basados en árboles de decisión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548640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48640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Random Forest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64208"/>
            <a:ext cx="521208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Crea MUCHOS árboles de decisión (100–500), cada uno
entrenado con una muestra aleatoria de los datos y
usando solo un subconjunto de features.
La predicción final es el PROMEDIO de todos los árboles.
Ventajas:
  ▸ Robusto ante overfitting
  ▸ Maneja bien datos ruidosos
  ▸ No necesita normalización
Hiperparámetros ajustados:
  • n_estimators — número de árboles
  • max_depth — profundidad máxima
  • min_samples_split — nodos mínimos para dividir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143000"/>
            <a:ext cx="548640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143000"/>
            <a:ext cx="5486400" cy="4572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18872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XGBoost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664208"/>
            <a:ext cx="521208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Crea árboles en SECUENCIA: cada nuevo árbol
corrige los errores del anterior (gradient boosting).
Aprende despacio pero con precisión.
Ventajas:
  ▸ Suele superar a RF en datos tabulares
  ▸ Regularización L1/L2 incorporada
  ▸ Muy usado en competencias de ML
Hiperparámetros ajustados:
  • n_estimators — número de árboles
  • learning_rate — qué tanto aprende cada árbol
  • max_depth — profundidad máxima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2560320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888888"/>
                </a:solidFill>
              </a:rPr>
              <a:t>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5120640"/>
            <a:ext cx="11567160" cy="621792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18464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Ambos se ajustan con RandomizedSearchCV: prueba 20 combinaciones aleatorias de hiperparámetros con validación cruzada de 5 folds y elige la que minimiza el RMSE.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Fase 5 · Evaluación — Métricas de rendimiento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C4FF"/>
                </a:solidFill>
              </a:rPr>
              <a:t>¿Qué tan buenas son las predicciones del modelo?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2697480" cy="457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170432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MAE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600200"/>
            <a:ext cx="2697480" cy="50292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618488"/>
            <a:ext cx="2606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2A4A"/>
                </a:solidFill>
              </a:rPr>
              <a:t>Mean Absolute Error
Error Absoluto Medio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03120"/>
            <a:ext cx="269748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" y="2130552"/>
            <a:ext cx="258775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Promedio del tamaño del error,
sin importar dirección.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834640"/>
            <a:ext cx="2697480" cy="777240"/>
          </a:xfrm>
          <a:prstGeom prst="rect">
            <a:avLst/>
          </a:prstGeom>
          <a:solidFill>
            <a:srgbClr val="F1F5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" y="2852928"/>
            <a:ext cx="25877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6FEB"/>
                </a:solidFill>
              </a:rPr>
              <a:t>Fórmula: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" y="3035808"/>
            <a:ext cx="25877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3333"/>
                </a:solidFill>
              </a:rPr>
              <a:t>| real − predicho |
promediado sobre todos los datos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611880"/>
            <a:ext cx="2697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" y="3630168"/>
            <a:ext cx="25877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6FEB"/>
                </a:solidFill>
              </a:rPr>
              <a:t>Unidad: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" y="3803904"/>
            <a:ext cx="2587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±X % de grasa
en promedio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114800"/>
            <a:ext cx="2697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" y="4133087"/>
            <a:ext cx="25877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6FEB"/>
                </a:solidFill>
              </a:rPr>
              <a:t>¿Sensible a outliers?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" y="4297680"/>
            <a:ext cx="2587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No. Trata todos
los errores igual.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54680" y="1143000"/>
            <a:ext cx="269748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54680" y="1170432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RMSE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54680" y="1600200"/>
            <a:ext cx="2697480" cy="50292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0" y="1618488"/>
            <a:ext cx="2606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2A4A"/>
                </a:solidFill>
              </a:rPr>
              <a:t>Root Mean Squared Error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54680" y="2103120"/>
            <a:ext cx="269748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18688" y="2130552"/>
            <a:ext cx="258775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Como MAE pero penaliza más
los errores grandes.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54680" y="2834640"/>
            <a:ext cx="2697480" cy="777240"/>
          </a:xfrm>
          <a:prstGeom prst="rect">
            <a:avLst/>
          </a:prstGeom>
          <a:solidFill>
            <a:srgbClr val="F1F5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18688" y="2852928"/>
            <a:ext cx="25877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6FEB"/>
                </a:solidFill>
              </a:rPr>
              <a:t>Fórmula: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18688" y="3035808"/>
            <a:ext cx="25877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3333"/>
                </a:solidFill>
              </a:rPr>
              <a:t>√ ( promedio de
( real − predicho )² 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54680" y="3611880"/>
            <a:ext cx="2697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18688" y="3630168"/>
            <a:ext cx="25877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6FEB"/>
                </a:solidFill>
              </a:rPr>
              <a:t>Unidad: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18688" y="3803904"/>
            <a:ext cx="2587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±X % de grasa
(castiga outliers)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54680" y="4114800"/>
            <a:ext cx="2697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18688" y="4133087"/>
            <a:ext cx="25877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6FEB"/>
                </a:solidFill>
              </a:rPr>
              <a:t>¿Sensible a outliers?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18688" y="4297680"/>
            <a:ext cx="2587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Sí. Errores grandes
pesan mucho más.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1143000"/>
            <a:ext cx="2697480" cy="457200"/>
          </a:xfrm>
          <a:prstGeom prst="rect">
            <a:avLst/>
          </a:prstGeom>
          <a:solidFill>
            <a:srgbClr val="7C1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040" y="1170432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R²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35040" y="1600200"/>
            <a:ext cx="2697480" cy="50292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80760" y="1618488"/>
            <a:ext cx="2606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2A4A"/>
                </a:solidFill>
              </a:rPr>
              <a:t>Coeficiente de Determinación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103120"/>
            <a:ext cx="269748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99048" y="2130552"/>
            <a:ext cx="258775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Qué % de la variabilidad
del target explica el modelo.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35040" y="2834640"/>
            <a:ext cx="2697480" cy="777240"/>
          </a:xfrm>
          <a:prstGeom prst="rect">
            <a:avLst/>
          </a:prstGeom>
          <a:solidFill>
            <a:srgbClr val="F1F5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99048" y="2852928"/>
            <a:ext cx="25877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6FEB"/>
                </a:solidFill>
              </a:rPr>
              <a:t>Fórmula: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99048" y="3035808"/>
            <a:ext cx="25877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3333"/>
                </a:solidFill>
              </a:rPr>
              <a:t>1 − ( errores del modelo /
varianza total del target 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35040" y="3611880"/>
            <a:ext cx="2697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99048" y="3630168"/>
            <a:ext cx="25877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6FEB"/>
                </a:solidFill>
              </a:rPr>
              <a:t>Unidad: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99048" y="3803904"/>
            <a:ext cx="2587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0 a 1
(1 = perfecto)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35040" y="4114800"/>
            <a:ext cx="2697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99048" y="4133087"/>
            <a:ext cx="25877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6FEB"/>
                </a:solidFill>
              </a:rPr>
              <a:t>¿Sensible a outliers?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99048" y="4297680"/>
            <a:ext cx="2587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No. Es relativo
a la varianza.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915400" y="1143000"/>
            <a:ext cx="2697480" cy="4572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915400" y="1170432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MAPE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915400" y="1600200"/>
            <a:ext cx="2697480" cy="50292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961120" y="1618488"/>
            <a:ext cx="2606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2A4A"/>
                </a:solidFill>
              </a:rPr>
              <a:t>Mean Absolute Percentage Error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915400" y="2103120"/>
            <a:ext cx="269748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979408" y="2130552"/>
            <a:ext cx="258775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Como MAE pero expresa el error
como % del valor real.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915400" y="2834640"/>
            <a:ext cx="2697480" cy="777240"/>
          </a:xfrm>
          <a:prstGeom prst="rect">
            <a:avLst/>
          </a:prstGeom>
          <a:solidFill>
            <a:srgbClr val="F1F5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979408" y="2852928"/>
            <a:ext cx="25877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6FEB"/>
                </a:solidFill>
              </a:rPr>
              <a:t>Fórmula: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979408" y="3035808"/>
            <a:ext cx="25877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3333"/>
                </a:solidFill>
              </a:rPr>
              <a:t>| (real−pred) / real |
promediado × 100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915400" y="3611880"/>
            <a:ext cx="2697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979408" y="3630168"/>
            <a:ext cx="25877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6FEB"/>
                </a:solidFill>
              </a:rPr>
              <a:t>Unidad: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979408" y="3803904"/>
            <a:ext cx="2587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X % relativo
del valor real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915400" y="4114800"/>
            <a:ext cx="2697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979408" y="4133087"/>
            <a:ext cx="25877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6FEB"/>
                </a:solidFill>
              </a:rPr>
              <a:t>¿Sensible a outliers?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979408" y="4297680"/>
            <a:ext cx="2587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No, pero falla si
el real es ~0.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74320" y="4846320"/>
            <a:ext cx="11567160" cy="804672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7200" y="4910328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ACC15"/>
                </a:solidFill>
              </a:rPr>
              <a:t>RESULTADOS DEL PROYECTO  →  R² ≈ 0.73  (el modelo explica el 73% de por qué varía la grasa corporal)  |  RMSE ≈ 3.6 %  |  MAE ≈ 2.7 %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Fase 6 · Deployment y Conclusiones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C4FF"/>
                </a:solidFill>
              </a:rPr>
              <a:t>El modelo en uso + resumen del proyecto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5212080" cy="3246120"/>
          </a:xfrm>
          <a:prstGeom prst="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6FEB"/>
                </a:solidFill>
              </a:rPr>
              <a:t>¿Qué se hace en Deployment?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72768"/>
            <a:ext cx="493776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</a:rPr>
              <a:t>▸ El mejor modelo se guarda en disco como mejor_modelo_bodyfat.pkl usando joblib</a:t>
            </a:r>
          </a:p>
          <a:p>
            <a:pPr algn="l"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</a:rPr>
              <a:t>▸ El archivo guarda: modelo RF, modelo XGB, el Scaler y la lista de features</a:t>
            </a:r>
          </a:p>
          <a:p>
            <a:pPr algn="l"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</a:rPr>
              <a:t>▸ Se incluye un predictor interactivo en el notebook: el usuario ingresa sus datos y obtiene una predicción al instante</a:t>
            </a:r>
          </a:p>
          <a:p>
            <a:pPr algn="l"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</a:rPr>
              <a:t>▸ BMI se calcula automáticamente a partir de peso y altura — el usuario nunca necesita conocerlo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720" y="1143000"/>
            <a:ext cx="6080760" cy="3246120"/>
          </a:xfrm>
          <a:prstGeom prst="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0" y="1188720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6FEB"/>
                </a:solidFill>
              </a:rPr>
              <a:t>Flujo de una predicción nueva: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0" y="1600200"/>
            <a:ext cx="320040" cy="3200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0" y="1618488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6208" y="1618488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Usuario ingresa: edad, género, peso, altura, gripForce, sit-ups, salto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61888" y="1929384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</a:rPr>
              <a:t>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130552"/>
            <a:ext cx="320040" cy="320040"/>
          </a:xfrm>
          <a:prstGeom prst="rect">
            <a:avLst/>
          </a:prstGeom>
          <a:solidFill>
            <a:srgbClr val="069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0" y="2148840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6208" y="214884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Se calcula BMI = peso / (altura/100)²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1888" y="2459736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</a:rPr>
              <a:t>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2160" y="2660904"/>
            <a:ext cx="320040" cy="320040"/>
          </a:xfrm>
          <a:prstGeom prst="rect">
            <a:avLst/>
          </a:prstGeom>
          <a:solidFill>
            <a:srgbClr val="791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0" y="2679192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8" y="2679192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StandardScaler transforma los 7 valores a escala 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61888" y="2990088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</a:rPr>
              <a:t>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52160" y="3191256"/>
            <a:ext cx="320040" cy="3200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52160" y="3209544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6208" y="3209544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RF y XGBoost predicen → se muestran ambos + promedio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61888" y="3520439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</a:rPr>
              <a:t>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52160" y="3721608"/>
            <a:ext cx="320040" cy="320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52160" y="3739896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36208" y="3739896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Se clasifica según rangos ACE (Atlético / Aceptable / Obesidad)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553712"/>
            <a:ext cx="11567160" cy="118872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59028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ACC15"/>
                </a:solidFill>
              </a:rPr>
              <a:t>Conclusiones clave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910328"/>
            <a:ext cx="11155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R² ≈ 0.73 es competitivo con la literatura científica para predicción sin equipos especializados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111496"/>
            <a:ext cx="11155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El techo de R² ~0.73 es físicamente real: genética e hidratación no se pueden medir con báscula y cronómetro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312664"/>
            <a:ext cx="11155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BMI fue la feature engineering más valiosa — no estaba en el CSV pero mejoró el modelo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513832"/>
            <a:ext cx="11155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StandardScaler dentro del Pipeline garantiza que no haya data leakage en ningún punto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